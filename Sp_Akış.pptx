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673" r:id="rId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A67E5B-0154-4703-8D25-6E537EC07C5D}" type="datetimeFigureOut">
              <a:rPr lang="tr-TR" smtClean="0"/>
              <a:t>8.12.2025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59B5B-84C4-4F80-94B7-316FB893309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3722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5719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8020251-50E0-9DD9-E4F5-CB275ED2A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5AD9D669-0850-3F7B-20C1-ED61B21A2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791D136-B64A-5230-8DFC-BBEFD24FF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06A8-46BF-4D67-8ED8-DC649D665C8F}" type="datetimeFigureOut">
              <a:rPr lang="tr-TR" smtClean="0"/>
              <a:t>8.12.2025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1A342DA-7FBF-4906-7286-8F31A0184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6E94C58-EB2C-B741-8CB9-5FAED59CA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96664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0933F23-3E1E-50C8-7D5D-7065ADF7F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1405ADE-256C-41B2-5837-8BD34A274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66843EB-B16E-833D-7C2B-DD5F4244A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06A8-46BF-4D67-8ED8-DC649D665C8F}" type="datetimeFigureOut">
              <a:rPr lang="tr-TR" smtClean="0"/>
              <a:t>8.12.2025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1E71458-D676-01A9-50F6-FAAD7167E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C809769-9A22-D09E-E7F3-E208FB30A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7402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58A2053-3349-F32C-B1F1-9BF6B69E7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3247F4F-F4FD-0F2F-FB8B-A6CF463C1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704991C-9504-5BCD-9941-02336B5F9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06A8-46BF-4D67-8ED8-DC649D665C8F}" type="datetimeFigureOut">
              <a:rPr lang="tr-TR" smtClean="0"/>
              <a:t>8.12.2025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7D957AE-6955-B12E-E1F7-92CF523F0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448E1ED-41D6-39FB-4EBF-3F84D509A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02327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393B826-0644-34D3-A455-9ECC213C9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C5C11B8-785F-9B59-BCDF-3817263F1E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EDB37FB-5B6D-C2CF-985E-621F16218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22D751C-F4C3-2E8C-AF2C-596C20C51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06A8-46BF-4D67-8ED8-DC649D665C8F}" type="datetimeFigureOut">
              <a:rPr lang="tr-TR" smtClean="0"/>
              <a:t>8.12.2025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40735F1-CFFA-585E-2AF6-0B373B787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4470B07-2957-AF57-7D10-9A856CC1B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45996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F818D13-D37A-10BE-0C97-CAA726D28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7FDF17C-5DDE-D719-3F13-BA1E5370A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16EAEB4-8585-3985-2440-D73A15E26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FFAB7361-A2F3-4C0F-64DD-EFCFE6E5C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72A9F71B-209A-BCA6-60F5-18F8445534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B1D25246-33C9-5568-0FBB-EF9E568C6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06A8-46BF-4D67-8ED8-DC649D665C8F}" type="datetimeFigureOut">
              <a:rPr lang="tr-TR" smtClean="0"/>
              <a:t>8.12.2025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3675B57C-B3D1-F68E-0E79-2DCCA58BF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89201CD4-7B82-FDB0-A0F8-79A121A8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1171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BF7BF31-F32E-AEE1-9822-15D59F8AC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231D8D65-AE5F-ED0C-C0A5-7F5BBA32B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06A8-46BF-4D67-8ED8-DC649D665C8F}" type="datetimeFigureOut">
              <a:rPr lang="tr-TR" smtClean="0"/>
              <a:t>8.12.2025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51A58CBA-4977-0E79-EC7D-F16567A56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1444F08B-F5E4-E750-29CC-38335FDA9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510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7F423BCB-1CB1-5284-6E92-611E4CBAF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06A8-46BF-4D67-8ED8-DC649D665C8F}" type="datetimeFigureOut">
              <a:rPr lang="tr-TR" smtClean="0"/>
              <a:t>8.12.2025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B4B544D3-6586-A823-6246-EA6B26BD6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9AD0D75C-757A-BB84-6C95-A8EE3D89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66563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7D4CD50-0733-0768-7FA3-0A01CEA35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1CD6104-1E31-D361-F88A-9B4870CAA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A7549D7-7424-D2B1-04B9-5A3812AD1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598BFE9-C03C-2B76-F5D0-7E6526091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06A8-46BF-4D67-8ED8-DC649D665C8F}" type="datetimeFigureOut">
              <a:rPr lang="tr-TR" smtClean="0"/>
              <a:t>8.12.2025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2C05924-690F-2824-8022-3D6462A45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9F62E4F-8C19-030B-B592-A935D23B9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27219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FDDBFC6-AA7E-B517-DC86-2D8305CD8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6598DF65-DC53-B4B6-CCCE-F449E3506B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6D7CA03-DF6E-A43D-CF49-15D7467D1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F2EAF10-CB79-6097-90B4-7DDD90CB4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06A8-46BF-4D67-8ED8-DC649D665C8F}" type="datetimeFigureOut">
              <a:rPr lang="tr-TR" smtClean="0"/>
              <a:t>8.12.2025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C348A00-8841-2D5E-BEB4-48F51F39F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F8BAEBA-4B06-EA44-C753-9A59530E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3184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1D4AC01-B17F-7D6B-8555-A6EC97B9E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2EF8377-D8D1-F566-8795-88B664CB3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005074D-5A75-0454-A555-83ABDA9F8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06A8-46BF-4D67-8ED8-DC649D665C8F}" type="datetimeFigureOut">
              <a:rPr lang="tr-TR" smtClean="0"/>
              <a:t>8.12.2025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67E7CF9-49C5-26F0-4287-ACE34AB4B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3CDCC49-0017-685E-FEA9-7008E8FE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6228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7550845D-A5F9-8BCF-F821-4A94D535D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92D1560-A6ED-D354-54AB-CC1E8F29D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0F222D3-2412-06F2-5F1D-267FAEBB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806A8-46BF-4D67-8ED8-DC649D665C8F}" type="datetimeFigureOut">
              <a:rPr lang="tr-TR" smtClean="0"/>
              <a:t>8.12.2025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6E64979-B771-DBB7-93A5-7DEDCB5C8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A1A731E-10C7-C03F-7B47-4CEED87B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61805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.5_Divider_Slide_GRAPH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313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19297887-2B58-00C8-0AD0-A87A9EB15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F058BDF-755A-2986-2375-8366C5640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C96A17F-2109-0E47-1E60-6DFD44122D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A806A8-46BF-4D67-8ED8-DC649D665C8F}" type="datetimeFigureOut">
              <a:rPr lang="tr-TR" smtClean="0"/>
              <a:t>8.12.2025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A62AE94-1C35-9133-1F08-0BC0289460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DDD6051-EC8D-573F-1EF3-C639A96C8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AACD3A-6F19-4E49-AA4D-FE7D9A27C8F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88212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3">
            <a:extLst>
              <a:ext uri="{FF2B5EF4-FFF2-40B4-BE49-F238E27FC236}">
                <a16:creationId xmlns:a16="http://schemas.microsoft.com/office/drawing/2014/main" id="{5D7BF4D6-F62D-E58C-2728-706CEA13EDDA}"/>
              </a:ext>
            </a:extLst>
          </p:cNvPr>
          <p:cNvSpPr txBox="1">
            <a:spLocks/>
          </p:cNvSpPr>
          <p:nvPr/>
        </p:nvSpPr>
        <p:spPr>
          <a:xfrm>
            <a:off x="177005" y="552797"/>
            <a:ext cx="4322910" cy="744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3100" kern="10" cap="all" spc="150" dirty="0">
                <a:ln w="11430"/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+mn-ea"/>
                <a:cs typeface="Calibri" pitchFamily="34" charset="0"/>
              </a:rPr>
              <a:t>STRATEJİK PLANLAMA</a:t>
            </a:r>
          </a:p>
        </p:txBody>
      </p:sp>
      <p:sp>
        <p:nvSpPr>
          <p:cNvPr id="4" name="Rectangle 3">
            <a:hlinkClick r:id="" action="ppaction://noaction"/>
            <a:extLst>
              <a:ext uri="{FF2B5EF4-FFF2-40B4-BE49-F238E27FC236}">
                <a16:creationId xmlns:a16="http://schemas.microsoft.com/office/drawing/2014/main" id="{F1996A24-6D84-D936-155C-90348A9B63B9}"/>
              </a:ext>
            </a:extLst>
          </p:cNvPr>
          <p:cNvSpPr txBox="1">
            <a:spLocks noChangeArrowheads="1"/>
          </p:cNvSpPr>
          <p:nvPr/>
        </p:nvSpPr>
        <p:spPr>
          <a:xfrm>
            <a:off x="7407556" y="345176"/>
            <a:ext cx="2080694" cy="415241"/>
          </a:xfrm>
          <a:prstGeom prst="rect">
            <a:avLst/>
          </a:prstGeom>
          <a:ln w="19050">
            <a:solidFill>
              <a:schemeClr val="accent4">
                <a:lumMod val="95000"/>
                <a:lumOff val="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b="1" dirty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AMAÇ </a:t>
            </a:r>
            <a:r>
              <a:rPr lang="tr-TR" sz="2000" dirty="0" err="1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Purpose</a:t>
            </a:r>
            <a:endParaRPr lang="tr-TR" dirty="0">
              <a:solidFill>
                <a:srgbClr val="00808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Rectangle 3">
            <a:hlinkClick r:id="" action="ppaction://noaction"/>
            <a:extLst>
              <a:ext uri="{FF2B5EF4-FFF2-40B4-BE49-F238E27FC236}">
                <a16:creationId xmlns:a16="http://schemas.microsoft.com/office/drawing/2014/main" id="{4E7088A4-9C4B-05A3-FA9E-3A5D5DC009A2}"/>
              </a:ext>
            </a:extLst>
          </p:cNvPr>
          <p:cNvSpPr txBox="1">
            <a:spLocks noChangeArrowheads="1"/>
          </p:cNvSpPr>
          <p:nvPr/>
        </p:nvSpPr>
        <p:spPr>
          <a:xfrm>
            <a:off x="7407556" y="979296"/>
            <a:ext cx="2080694" cy="415241"/>
          </a:xfrm>
          <a:prstGeom prst="rect">
            <a:avLst/>
          </a:prstGeom>
          <a:ln w="19050">
            <a:solidFill>
              <a:schemeClr val="accent4">
                <a:lumMod val="95000"/>
                <a:lumOff val="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2000" b="1" dirty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Vizyon </a:t>
            </a:r>
            <a:r>
              <a:rPr lang="tr-TR" sz="1800" dirty="0" err="1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Vision</a:t>
            </a:r>
            <a:endParaRPr lang="tr-TR" sz="2000" dirty="0">
              <a:solidFill>
                <a:srgbClr val="00808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6" name="Düz Ok Bağlayıcısı 5">
            <a:extLst>
              <a:ext uri="{FF2B5EF4-FFF2-40B4-BE49-F238E27FC236}">
                <a16:creationId xmlns:a16="http://schemas.microsoft.com/office/drawing/2014/main" id="{A1B34FA1-915B-2143-318A-365C092A80D0}"/>
              </a:ext>
            </a:extLst>
          </p:cNvPr>
          <p:cNvCxnSpPr>
            <a:cxnSpLocks/>
          </p:cNvCxnSpPr>
          <p:nvPr/>
        </p:nvCxnSpPr>
        <p:spPr>
          <a:xfrm>
            <a:off x="8366266" y="777377"/>
            <a:ext cx="0" cy="1949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>
            <a:extLst>
              <a:ext uri="{FF2B5EF4-FFF2-40B4-BE49-F238E27FC236}">
                <a16:creationId xmlns:a16="http://schemas.microsoft.com/office/drawing/2014/main" id="{7C39949D-882F-67AD-1114-7C4A8A282F1C}"/>
              </a:ext>
            </a:extLst>
          </p:cNvPr>
          <p:cNvSpPr txBox="1">
            <a:spLocks noChangeArrowheads="1"/>
          </p:cNvSpPr>
          <p:nvPr/>
        </p:nvSpPr>
        <p:spPr>
          <a:xfrm>
            <a:off x="4499915" y="563013"/>
            <a:ext cx="2232248" cy="535120"/>
          </a:xfrm>
          <a:prstGeom prst="rect">
            <a:avLst/>
          </a:prstGeom>
          <a:ln w="19050">
            <a:solidFill>
              <a:schemeClr val="accent4">
                <a:lumMod val="95000"/>
                <a:lumOff val="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600" b="1" dirty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Değerler ve Etik Kurallar </a:t>
            </a:r>
          </a:p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600" dirty="0" err="1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Values</a:t>
            </a:r>
            <a:r>
              <a:rPr lang="tr-TR" sz="1600" dirty="0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 ​​</a:t>
            </a:r>
            <a:r>
              <a:rPr lang="tr-TR" sz="1600" dirty="0" err="1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and</a:t>
            </a:r>
            <a:r>
              <a:rPr lang="tr-TR" sz="1600" dirty="0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tr-TR" sz="1600" dirty="0" err="1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Ethics</a:t>
            </a:r>
            <a:endParaRPr lang="tr-TR" sz="1800" dirty="0">
              <a:solidFill>
                <a:srgbClr val="00808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7ED5A095-2DCE-3772-13D8-D70AEDC4C93D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732163" y="830573"/>
            <a:ext cx="1574008" cy="14978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">
            <a:hlinkClick r:id="" action="ppaction://noaction"/>
            <a:extLst>
              <a:ext uri="{FF2B5EF4-FFF2-40B4-BE49-F238E27FC236}">
                <a16:creationId xmlns:a16="http://schemas.microsoft.com/office/drawing/2014/main" id="{ED7F4589-A65E-D2D4-18BD-08D26911279D}"/>
              </a:ext>
            </a:extLst>
          </p:cNvPr>
          <p:cNvSpPr txBox="1">
            <a:spLocks noChangeArrowheads="1"/>
          </p:cNvSpPr>
          <p:nvPr/>
        </p:nvSpPr>
        <p:spPr>
          <a:xfrm>
            <a:off x="7290522" y="2163635"/>
            <a:ext cx="1008111" cy="415241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800" b="1" dirty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SWOT</a:t>
            </a:r>
            <a:endParaRPr lang="tr-TR" sz="1800" dirty="0">
              <a:solidFill>
                <a:srgbClr val="00808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0" name="Düz Ok Bağlayıcısı 9">
            <a:extLst>
              <a:ext uri="{FF2B5EF4-FFF2-40B4-BE49-F238E27FC236}">
                <a16:creationId xmlns:a16="http://schemas.microsoft.com/office/drawing/2014/main" id="{FC9B701E-F7F2-1301-EA6E-3650EE00C210}"/>
              </a:ext>
            </a:extLst>
          </p:cNvPr>
          <p:cNvCxnSpPr/>
          <p:nvPr/>
        </p:nvCxnSpPr>
        <p:spPr>
          <a:xfrm>
            <a:off x="8375713" y="1995043"/>
            <a:ext cx="0" cy="1949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Düz Ok Bağlayıcısı 10">
            <a:extLst>
              <a:ext uri="{FF2B5EF4-FFF2-40B4-BE49-F238E27FC236}">
                <a16:creationId xmlns:a16="http://schemas.microsoft.com/office/drawing/2014/main" id="{9A1FD54C-04C2-CD67-8657-7649E1CCA7D1}"/>
              </a:ext>
            </a:extLst>
          </p:cNvPr>
          <p:cNvCxnSpPr/>
          <p:nvPr/>
        </p:nvCxnSpPr>
        <p:spPr>
          <a:xfrm>
            <a:off x="8366266" y="1386305"/>
            <a:ext cx="0" cy="1949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7E0056B5-39E4-5545-DF6E-2BF43BF091C6}"/>
              </a:ext>
            </a:extLst>
          </p:cNvPr>
          <p:cNvSpPr txBox="1">
            <a:spLocks noChangeArrowheads="1"/>
          </p:cNvSpPr>
          <p:nvPr/>
        </p:nvSpPr>
        <p:spPr>
          <a:xfrm>
            <a:off x="7265824" y="2788383"/>
            <a:ext cx="2080694" cy="610182"/>
          </a:xfrm>
          <a:prstGeom prst="rect">
            <a:avLst/>
          </a:prstGeom>
          <a:ln w="19050">
            <a:solidFill>
              <a:schemeClr val="accent4">
                <a:lumMod val="95000"/>
                <a:lumOff val="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800" b="1" dirty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Ana Stratejiler</a:t>
            </a:r>
          </a:p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600" dirty="0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Main </a:t>
            </a:r>
            <a:r>
              <a:rPr lang="tr-TR" sz="1600" dirty="0" err="1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Strategies</a:t>
            </a:r>
            <a:endParaRPr lang="tr-TR" sz="1800" dirty="0">
              <a:solidFill>
                <a:srgbClr val="00808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3" name="Düz Ok Bağlayıcısı 12">
            <a:extLst>
              <a:ext uri="{FF2B5EF4-FFF2-40B4-BE49-F238E27FC236}">
                <a16:creationId xmlns:a16="http://schemas.microsoft.com/office/drawing/2014/main" id="{6183CCDA-3FC8-9491-9935-EA37C7320913}"/>
              </a:ext>
            </a:extLst>
          </p:cNvPr>
          <p:cNvCxnSpPr/>
          <p:nvPr/>
        </p:nvCxnSpPr>
        <p:spPr>
          <a:xfrm>
            <a:off x="8273935" y="3402338"/>
            <a:ext cx="0" cy="1949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3">
            <a:extLst>
              <a:ext uri="{FF2B5EF4-FFF2-40B4-BE49-F238E27FC236}">
                <a16:creationId xmlns:a16="http://schemas.microsoft.com/office/drawing/2014/main" id="{7877A0C0-59C9-7191-F018-FE4765455E9E}"/>
              </a:ext>
            </a:extLst>
          </p:cNvPr>
          <p:cNvSpPr txBox="1">
            <a:spLocks noChangeArrowheads="1"/>
          </p:cNvSpPr>
          <p:nvPr/>
        </p:nvSpPr>
        <p:spPr>
          <a:xfrm>
            <a:off x="7258286" y="3652207"/>
            <a:ext cx="2080694" cy="610182"/>
          </a:xfrm>
          <a:prstGeom prst="rect">
            <a:avLst/>
          </a:prstGeom>
          <a:ln w="19050">
            <a:solidFill>
              <a:schemeClr val="accent4">
                <a:lumMod val="95000"/>
                <a:lumOff val="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800" b="1" dirty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Alt Stratejiler</a:t>
            </a:r>
          </a:p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600" dirty="0" err="1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Sub-Strategies</a:t>
            </a:r>
            <a:endParaRPr lang="tr-TR" sz="1800" dirty="0">
              <a:solidFill>
                <a:srgbClr val="00808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5" name="Düz Ok Bağlayıcısı 14">
            <a:extLst>
              <a:ext uri="{FF2B5EF4-FFF2-40B4-BE49-F238E27FC236}">
                <a16:creationId xmlns:a16="http://schemas.microsoft.com/office/drawing/2014/main" id="{5551FF67-83CD-FF04-0541-0A6B7BE9431C}"/>
              </a:ext>
            </a:extLst>
          </p:cNvPr>
          <p:cNvCxnSpPr/>
          <p:nvPr/>
        </p:nvCxnSpPr>
        <p:spPr>
          <a:xfrm>
            <a:off x="8266397" y="4266162"/>
            <a:ext cx="0" cy="1949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3">
            <a:extLst>
              <a:ext uri="{FF2B5EF4-FFF2-40B4-BE49-F238E27FC236}">
                <a16:creationId xmlns:a16="http://schemas.microsoft.com/office/drawing/2014/main" id="{89C341F2-4242-6FD0-3DE8-F1025BCD016D}"/>
              </a:ext>
            </a:extLst>
          </p:cNvPr>
          <p:cNvSpPr txBox="1">
            <a:spLocks noChangeArrowheads="1"/>
          </p:cNvSpPr>
          <p:nvPr/>
        </p:nvSpPr>
        <p:spPr>
          <a:xfrm>
            <a:off x="6799472" y="5274545"/>
            <a:ext cx="2979094" cy="504056"/>
          </a:xfrm>
          <a:prstGeom prst="rect">
            <a:avLst/>
          </a:prstGeom>
          <a:ln w="19050">
            <a:solidFill>
              <a:schemeClr val="accent4">
                <a:lumMod val="95000"/>
                <a:lumOff val="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600" b="1" dirty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Süreç İyileştirme Faaliyetleri</a:t>
            </a:r>
          </a:p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400" dirty="0" err="1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Process</a:t>
            </a:r>
            <a:r>
              <a:rPr lang="tr-TR" sz="1400" dirty="0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tr-TR" sz="1400" dirty="0" err="1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Ipmrovement</a:t>
            </a:r>
            <a:r>
              <a:rPr lang="tr-TR" sz="1400" dirty="0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tr-TR" sz="1400" dirty="0" err="1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Activities</a:t>
            </a:r>
            <a:endParaRPr lang="tr-TR" sz="1600" dirty="0">
              <a:solidFill>
                <a:srgbClr val="008080"/>
              </a:solidFill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2" name="Grup 21">
            <a:extLst>
              <a:ext uri="{FF2B5EF4-FFF2-40B4-BE49-F238E27FC236}">
                <a16:creationId xmlns:a16="http://schemas.microsoft.com/office/drawing/2014/main" id="{1F8E2D8F-535F-5144-A46B-B095B5E298A9}"/>
              </a:ext>
            </a:extLst>
          </p:cNvPr>
          <p:cNvGrpSpPr/>
          <p:nvPr/>
        </p:nvGrpSpPr>
        <p:grpSpPr>
          <a:xfrm>
            <a:off x="5742744" y="4513875"/>
            <a:ext cx="5126856" cy="715959"/>
            <a:chOff x="1688305" y="4396521"/>
            <a:chExt cx="5126856" cy="715959"/>
          </a:xfrm>
        </p:grpSpPr>
        <p:sp>
          <p:nvSpPr>
            <p:cNvPr id="23" name="Rectangle 3">
              <a:extLst>
                <a:ext uri="{FF2B5EF4-FFF2-40B4-BE49-F238E27FC236}">
                  <a16:creationId xmlns:a16="http://schemas.microsoft.com/office/drawing/2014/main" id="{71889BFF-FBF5-25BD-C420-4E9A6EDA4D1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8305" y="4396521"/>
              <a:ext cx="1523081" cy="504056"/>
            </a:xfrm>
            <a:prstGeom prst="rect">
              <a:avLst/>
            </a:prstGeom>
            <a:ln w="19050">
              <a:solidFill>
                <a:schemeClr val="accent4">
                  <a:lumMod val="95000"/>
                  <a:lumOff val="5000"/>
                </a:schemeClr>
              </a:solidFill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prstClr val="white"/>
                </a:buClr>
                <a:defRPr/>
              </a:pPr>
              <a:r>
                <a:rPr lang="tr-TR" sz="1600" b="1" dirty="0">
                  <a:solidFill>
                    <a:srgbClr val="003399"/>
                  </a:solidFill>
                  <a:latin typeface="Calibri" pitchFamily="34" charset="0"/>
                  <a:cs typeface="Calibri" pitchFamily="34" charset="0"/>
                </a:rPr>
                <a:t>Süreç Hedefleri</a:t>
              </a:r>
            </a:p>
            <a:p>
              <a:pPr>
                <a:spcBef>
                  <a:spcPts val="0"/>
                </a:spcBef>
                <a:buClr>
                  <a:prstClr val="white"/>
                </a:buClr>
                <a:defRPr/>
              </a:pPr>
              <a:r>
                <a:rPr lang="tr-TR" sz="1400" dirty="0" err="1">
                  <a:solidFill>
                    <a:srgbClr val="008080"/>
                  </a:solidFill>
                  <a:latin typeface="Calibri" pitchFamily="34" charset="0"/>
                  <a:cs typeface="Calibri" pitchFamily="34" charset="0"/>
                </a:rPr>
                <a:t>Process</a:t>
              </a:r>
              <a:r>
                <a:rPr lang="tr-TR" sz="1400" dirty="0">
                  <a:solidFill>
                    <a:srgbClr val="008080"/>
                  </a:solidFill>
                  <a:latin typeface="Calibri" pitchFamily="34" charset="0"/>
                  <a:cs typeface="Calibri" pitchFamily="34" charset="0"/>
                </a:rPr>
                <a:t>  </a:t>
              </a:r>
              <a:r>
                <a:rPr lang="tr-TR" sz="1400" dirty="0" err="1">
                  <a:solidFill>
                    <a:srgbClr val="008080"/>
                  </a:solidFill>
                  <a:latin typeface="Calibri" pitchFamily="34" charset="0"/>
                  <a:cs typeface="Calibri" pitchFamily="34" charset="0"/>
                </a:rPr>
                <a:t>Targets</a:t>
              </a:r>
              <a:endParaRPr lang="tr-TR" sz="1600" dirty="0">
                <a:solidFill>
                  <a:srgbClr val="008080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E8307044-64E7-9DB6-4420-156A0E2DB8D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2080" y="4396521"/>
              <a:ext cx="1523081" cy="504056"/>
            </a:xfrm>
            <a:prstGeom prst="rect">
              <a:avLst/>
            </a:prstGeom>
            <a:ln w="19050">
              <a:solidFill>
                <a:schemeClr val="accent4">
                  <a:lumMod val="95000"/>
                  <a:lumOff val="5000"/>
                </a:schemeClr>
              </a:solidFill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prstClr val="white"/>
                </a:buClr>
                <a:defRPr/>
              </a:pPr>
              <a:r>
                <a:rPr lang="tr-TR" sz="1600" b="1" dirty="0">
                  <a:solidFill>
                    <a:srgbClr val="003399"/>
                  </a:solidFill>
                  <a:latin typeface="Calibri" pitchFamily="34" charset="0"/>
                  <a:cs typeface="Calibri" pitchFamily="34" charset="0"/>
                </a:rPr>
                <a:t>Süreç Hedefleri</a:t>
              </a:r>
            </a:p>
            <a:p>
              <a:pPr>
                <a:spcBef>
                  <a:spcPts val="0"/>
                </a:spcBef>
                <a:buClr>
                  <a:prstClr val="white"/>
                </a:buClr>
                <a:defRPr/>
              </a:pPr>
              <a:r>
                <a:rPr lang="tr-TR" sz="1400" dirty="0" err="1">
                  <a:solidFill>
                    <a:srgbClr val="008080"/>
                  </a:solidFill>
                  <a:latin typeface="Calibri" pitchFamily="34" charset="0"/>
                  <a:cs typeface="Calibri" pitchFamily="34" charset="0"/>
                </a:rPr>
                <a:t>Process</a:t>
              </a:r>
              <a:r>
                <a:rPr lang="tr-TR" sz="1400" dirty="0">
                  <a:solidFill>
                    <a:srgbClr val="008080"/>
                  </a:solidFill>
                  <a:latin typeface="Calibri" pitchFamily="34" charset="0"/>
                  <a:cs typeface="Calibri" pitchFamily="34" charset="0"/>
                </a:rPr>
                <a:t>  </a:t>
              </a:r>
              <a:r>
                <a:rPr lang="tr-TR" sz="1400" dirty="0" err="1">
                  <a:solidFill>
                    <a:srgbClr val="008080"/>
                  </a:solidFill>
                  <a:latin typeface="Calibri" pitchFamily="34" charset="0"/>
                  <a:cs typeface="Calibri" pitchFamily="34" charset="0"/>
                </a:rPr>
                <a:t>Targets</a:t>
              </a:r>
              <a:endParaRPr lang="tr-TR" sz="1600" dirty="0">
                <a:solidFill>
                  <a:srgbClr val="008080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5" name="Rectangle 3">
              <a:hlinkClick r:id="" action="ppaction://noaction"/>
              <a:extLst>
                <a:ext uri="{FF2B5EF4-FFF2-40B4-BE49-F238E27FC236}">
                  <a16:creationId xmlns:a16="http://schemas.microsoft.com/office/drawing/2014/main" id="{2C07640B-133A-7C51-077A-5D0E50025CB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477714" y="4396521"/>
              <a:ext cx="1523081" cy="504056"/>
            </a:xfrm>
            <a:prstGeom prst="rect">
              <a:avLst/>
            </a:prstGeom>
            <a:ln w="19050">
              <a:solidFill>
                <a:schemeClr val="accent4">
                  <a:lumMod val="95000"/>
                  <a:lumOff val="5000"/>
                </a:schemeClr>
              </a:solidFill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Courier New" pitchFamily="49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j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prstClr val="white"/>
                </a:buClr>
                <a:defRPr/>
              </a:pPr>
              <a:r>
                <a:rPr lang="tr-TR" sz="1600" b="1" dirty="0">
                  <a:solidFill>
                    <a:srgbClr val="003399"/>
                  </a:solidFill>
                  <a:latin typeface="Calibri" pitchFamily="34" charset="0"/>
                  <a:cs typeface="Calibri" pitchFamily="34" charset="0"/>
                </a:rPr>
                <a:t>Süreç Hedefleri</a:t>
              </a:r>
            </a:p>
            <a:p>
              <a:pPr>
                <a:spcBef>
                  <a:spcPts val="0"/>
                </a:spcBef>
                <a:buClr>
                  <a:prstClr val="white"/>
                </a:buClr>
                <a:defRPr/>
              </a:pPr>
              <a:r>
                <a:rPr lang="tr-TR" sz="1400" dirty="0" err="1">
                  <a:solidFill>
                    <a:srgbClr val="008080"/>
                  </a:solidFill>
                  <a:latin typeface="Calibri" pitchFamily="34" charset="0"/>
                  <a:cs typeface="Calibri" pitchFamily="34" charset="0"/>
                </a:rPr>
                <a:t>Process</a:t>
              </a:r>
              <a:r>
                <a:rPr lang="tr-TR" sz="1400" dirty="0">
                  <a:solidFill>
                    <a:srgbClr val="008080"/>
                  </a:solidFill>
                  <a:latin typeface="Calibri" pitchFamily="34" charset="0"/>
                  <a:cs typeface="Calibri" pitchFamily="34" charset="0"/>
                </a:rPr>
                <a:t>  </a:t>
              </a:r>
              <a:r>
                <a:rPr lang="tr-TR" sz="1400" dirty="0" err="1">
                  <a:solidFill>
                    <a:srgbClr val="008080"/>
                  </a:solidFill>
                  <a:latin typeface="Calibri" pitchFamily="34" charset="0"/>
                  <a:cs typeface="Calibri" pitchFamily="34" charset="0"/>
                </a:rPr>
                <a:t>Targets</a:t>
              </a:r>
              <a:endParaRPr lang="tr-TR" sz="1600" dirty="0">
                <a:solidFill>
                  <a:srgbClr val="008080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27" name="Dirsek Bağlayıcısı 46">
              <a:extLst>
                <a:ext uri="{FF2B5EF4-FFF2-40B4-BE49-F238E27FC236}">
                  <a16:creationId xmlns:a16="http://schemas.microsoft.com/office/drawing/2014/main" id="{2A27DC04-6C17-7E70-6B3E-EA25322592CE}"/>
                </a:ext>
              </a:extLst>
            </p:cNvPr>
            <p:cNvCxnSpPr>
              <a:stCxn id="23" idx="2"/>
            </p:cNvCxnSpPr>
            <p:nvPr/>
          </p:nvCxnSpPr>
          <p:spPr>
            <a:xfrm rot="16200000" flipH="1">
              <a:off x="3238600" y="4111823"/>
              <a:ext cx="112599" cy="1690106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Düz Ok Bağlayıcısı 27">
              <a:extLst>
                <a:ext uri="{FF2B5EF4-FFF2-40B4-BE49-F238E27FC236}">
                  <a16:creationId xmlns:a16="http://schemas.microsoft.com/office/drawing/2014/main" id="{E362271B-1B29-193F-F32F-B62B520F1731}"/>
                </a:ext>
              </a:extLst>
            </p:cNvPr>
            <p:cNvCxnSpPr/>
            <p:nvPr/>
          </p:nvCxnSpPr>
          <p:spPr>
            <a:xfrm>
              <a:off x="4239256" y="4917539"/>
              <a:ext cx="0" cy="1949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Dirsek Bağlayıcısı 52">
              <a:extLst>
                <a:ext uri="{FF2B5EF4-FFF2-40B4-BE49-F238E27FC236}">
                  <a16:creationId xmlns:a16="http://schemas.microsoft.com/office/drawing/2014/main" id="{299621D7-D313-EFB5-0BA0-8359A1337E37}"/>
                </a:ext>
              </a:extLst>
            </p:cNvPr>
            <p:cNvCxnSpPr>
              <a:stCxn id="24" idx="2"/>
            </p:cNvCxnSpPr>
            <p:nvPr/>
          </p:nvCxnSpPr>
          <p:spPr>
            <a:xfrm rot="5400000">
              <a:off x="5147583" y="4108971"/>
              <a:ext cx="114432" cy="1697645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3">
            <a:extLst>
              <a:ext uri="{FF2B5EF4-FFF2-40B4-BE49-F238E27FC236}">
                <a16:creationId xmlns:a16="http://schemas.microsoft.com/office/drawing/2014/main" id="{B154BCBD-992F-47F8-8B44-1F5195DFA4C8}"/>
              </a:ext>
            </a:extLst>
          </p:cNvPr>
          <p:cNvSpPr txBox="1">
            <a:spLocks noChangeArrowheads="1"/>
          </p:cNvSpPr>
          <p:nvPr/>
        </p:nvSpPr>
        <p:spPr>
          <a:xfrm>
            <a:off x="7402303" y="5994625"/>
            <a:ext cx="1727085" cy="504056"/>
          </a:xfrm>
          <a:prstGeom prst="rect">
            <a:avLst/>
          </a:prstGeom>
          <a:ln w="19050">
            <a:solidFill>
              <a:schemeClr val="accent4">
                <a:lumMod val="95000"/>
                <a:lumOff val="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600" b="1" dirty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Bireysel Hedefler</a:t>
            </a:r>
          </a:p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400" dirty="0" err="1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Individual</a:t>
            </a:r>
            <a:r>
              <a:rPr lang="tr-TR" sz="1400" dirty="0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tr-TR" sz="1400" dirty="0" err="1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Targets</a:t>
            </a:r>
            <a:endParaRPr lang="tr-TR" sz="1600" dirty="0">
              <a:solidFill>
                <a:srgbClr val="00808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31" name="Düz Ok Bağlayıcısı 30">
            <a:extLst>
              <a:ext uri="{FF2B5EF4-FFF2-40B4-BE49-F238E27FC236}">
                <a16:creationId xmlns:a16="http://schemas.microsoft.com/office/drawing/2014/main" id="{8A9D10D5-64D7-277C-57AE-47C4D52FC397}"/>
              </a:ext>
            </a:extLst>
          </p:cNvPr>
          <p:cNvCxnSpPr/>
          <p:nvPr/>
        </p:nvCxnSpPr>
        <p:spPr>
          <a:xfrm>
            <a:off x="8282062" y="5778602"/>
            <a:ext cx="0" cy="1949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erbest Form 58">
            <a:extLst>
              <a:ext uri="{FF2B5EF4-FFF2-40B4-BE49-F238E27FC236}">
                <a16:creationId xmlns:a16="http://schemas.microsoft.com/office/drawing/2014/main" id="{8692B76C-4774-B933-35D5-5F06CEFE345C}"/>
              </a:ext>
            </a:extLst>
          </p:cNvPr>
          <p:cNvSpPr/>
          <p:nvPr/>
        </p:nvSpPr>
        <p:spPr>
          <a:xfrm>
            <a:off x="5053989" y="2407055"/>
            <a:ext cx="1716626" cy="3193645"/>
          </a:xfrm>
          <a:custGeom>
            <a:avLst/>
            <a:gdLst>
              <a:gd name="connsiteX0" fmla="*/ 2006221 w 2006221"/>
              <a:gd name="connsiteY0" fmla="*/ 3916907 h 3930555"/>
              <a:gd name="connsiteX1" fmla="*/ 0 w 2006221"/>
              <a:gd name="connsiteY1" fmla="*/ 3930555 h 3930555"/>
              <a:gd name="connsiteX2" fmla="*/ 27296 w 2006221"/>
              <a:gd name="connsiteY2" fmla="*/ 13647 h 3930555"/>
              <a:gd name="connsiteX3" fmla="*/ 1856096 w 2006221"/>
              <a:gd name="connsiteY3" fmla="*/ 0 h 3930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6221" h="3930555">
                <a:moveTo>
                  <a:pt x="2006221" y="3916907"/>
                </a:moveTo>
                <a:lnTo>
                  <a:pt x="0" y="3930555"/>
                </a:lnTo>
                <a:lnTo>
                  <a:pt x="27296" y="13647"/>
                </a:lnTo>
                <a:lnTo>
                  <a:pt x="1856096" y="0"/>
                </a:lnTo>
              </a:path>
            </a:pathLst>
          </a:cu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tr-TR">
              <a:solidFill>
                <a:prstClr val="black"/>
              </a:solidFill>
            </a:endParaRPr>
          </a:p>
        </p:txBody>
      </p:sp>
      <p:cxnSp>
        <p:nvCxnSpPr>
          <p:cNvPr id="33" name="Düz Ok Bağlayıcısı 32">
            <a:extLst>
              <a:ext uri="{FF2B5EF4-FFF2-40B4-BE49-F238E27FC236}">
                <a16:creationId xmlns:a16="http://schemas.microsoft.com/office/drawing/2014/main" id="{E738E30C-A246-C205-84B6-7C5B9EB4D467}"/>
              </a:ext>
            </a:extLst>
          </p:cNvPr>
          <p:cNvCxnSpPr>
            <a:cxnSpLocks/>
          </p:cNvCxnSpPr>
          <p:nvPr/>
        </p:nvCxnSpPr>
        <p:spPr>
          <a:xfrm flipH="1">
            <a:off x="5053988" y="4765902"/>
            <a:ext cx="6887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">
            <a:hlinkClick r:id="" action="ppaction://noaction"/>
            <a:extLst>
              <a:ext uri="{FF2B5EF4-FFF2-40B4-BE49-F238E27FC236}">
                <a16:creationId xmlns:a16="http://schemas.microsoft.com/office/drawing/2014/main" id="{E9B12DEC-0F98-A58D-B735-20A03232DE87}"/>
              </a:ext>
            </a:extLst>
          </p:cNvPr>
          <p:cNvSpPr txBox="1">
            <a:spLocks noChangeArrowheads="1"/>
          </p:cNvSpPr>
          <p:nvPr/>
        </p:nvSpPr>
        <p:spPr>
          <a:xfrm>
            <a:off x="7142131" y="1589478"/>
            <a:ext cx="2448270" cy="415241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800" b="1" dirty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EKOSİSTEM </a:t>
            </a:r>
            <a:r>
              <a:rPr lang="tr-TR" sz="1600" dirty="0" err="1">
                <a:solidFill>
                  <a:srgbClr val="008080"/>
                </a:solidFill>
                <a:latin typeface="Calibri" pitchFamily="34" charset="0"/>
                <a:cs typeface="Calibri" pitchFamily="34" charset="0"/>
              </a:rPr>
              <a:t>Ecosystem</a:t>
            </a:r>
            <a:endParaRPr lang="tr-TR" sz="1600" dirty="0">
              <a:solidFill>
                <a:srgbClr val="00808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2316F081-EDE5-7DB2-1284-809AE35CF26C}"/>
              </a:ext>
            </a:extLst>
          </p:cNvPr>
          <p:cNvSpPr txBox="1">
            <a:spLocks noChangeArrowheads="1"/>
          </p:cNvSpPr>
          <p:nvPr/>
        </p:nvSpPr>
        <p:spPr>
          <a:xfrm>
            <a:off x="10000369" y="509817"/>
            <a:ext cx="1680617" cy="535120"/>
          </a:xfrm>
          <a:prstGeom prst="rect">
            <a:avLst/>
          </a:prstGeom>
          <a:ln w="19050">
            <a:solidFill>
              <a:schemeClr val="accent4">
                <a:lumMod val="95000"/>
                <a:lumOff val="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600" b="1" dirty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Kalite Politikası</a:t>
            </a:r>
          </a:p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600" dirty="0" err="1"/>
              <a:t>Quality</a:t>
            </a:r>
            <a:r>
              <a:rPr lang="tr-TR" sz="1600" dirty="0"/>
              <a:t> </a:t>
            </a:r>
            <a:r>
              <a:rPr lang="tr-TR" sz="1600" dirty="0" err="1"/>
              <a:t>Policy</a:t>
            </a:r>
            <a:r>
              <a:rPr lang="tr-TR" sz="1600" dirty="0"/>
              <a:t> </a:t>
            </a:r>
            <a:endParaRPr lang="tr-TR" sz="1200" dirty="0">
              <a:solidFill>
                <a:srgbClr val="00808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3" name="Rectangle 3">
            <a:hlinkClick r:id="" action="ppaction://noaction"/>
            <a:extLst>
              <a:ext uri="{FF2B5EF4-FFF2-40B4-BE49-F238E27FC236}">
                <a16:creationId xmlns:a16="http://schemas.microsoft.com/office/drawing/2014/main" id="{2FDE5DBF-54A8-6834-7A45-DC64207185A9}"/>
              </a:ext>
            </a:extLst>
          </p:cNvPr>
          <p:cNvSpPr txBox="1">
            <a:spLocks noChangeArrowheads="1"/>
          </p:cNvSpPr>
          <p:nvPr/>
        </p:nvSpPr>
        <p:spPr>
          <a:xfrm>
            <a:off x="8447903" y="2173163"/>
            <a:ext cx="1008111" cy="415241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prstClr val="white"/>
              </a:buClr>
              <a:defRPr/>
            </a:pPr>
            <a:r>
              <a:rPr lang="tr-TR" sz="1800" b="1" dirty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PESTLE</a:t>
            </a:r>
            <a:endParaRPr lang="tr-TR" sz="1800" dirty="0">
              <a:solidFill>
                <a:srgbClr val="00808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41" name="Düz Ok Bağlayıcısı 40">
            <a:extLst>
              <a:ext uri="{FF2B5EF4-FFF2-40B4-BE49-F238E27FC236}">
                <a16:creationId xmlns:a16="http://schemas.microsoft.com/office/drawing/2014/main" id="{FD5FB136-F2AC-1CD2-FEEB-1462D18B8756}"/>
              </a:ext>
            </a:extLst>
          </p:cNvPr>
          <p:cNvCxnSpPr>
            <a:cxnSpLocks/>
          </p:cNvCxnSpPr>
          <p:nvPr/>
        </p:nvCxnSpPr>
        <p:spPr>
          <a:xfrm>
            <a:off x="8417950" y="836967"/>
            <a:ext cx="1574008" cy="14978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Düz Ok Bağlayıcısı 43">
            <a:extLst>
              <a:ext uri="{FF2B5EF4-FFF2-40B4-BE49-F238E27FC236}">
                <a16:creationId xmlns:a16="http://schemas.microsoft.com/office/drawing/2014/main" id="{7D67CBCC-3E9D-4E19-35A4-29E6AED9D887}"/>
              </a:ext>
            </a:extLst>
          </p:cNvPr>
          <p:cNvCxnSpPr>
            <a:cxnSpLocks/>
          </p:cNvCxnSpPr>
          <p:nvPr/>
        </p:nvCxnSpPr>
        <p:spPr>
          <a:xfrm>
            <a:off x="8366266" y="2593442"/>
            <a:ext cx="0" cy="1949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274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6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12" grpId="0" animBg="1"/>
      <p:bldP spid="14" grpId="0" animBg="1"/>
      <p:bldP spid="21" grpId="0" animBg="1"/>
      <p:bldP spid="30" grpId="0" animBg="1"/>
      <p:bldP spid="32" grpId="0" animBg="1"/>
      <p:bldP spid="35" grpId="0" animBg="1"/>
      <p:bldP spid="39" grpId="0" animBg="1"/>
      <p:bldP spid="43" grpId="0" animBg="1"/>
    </p:bld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Geniş ekran</PresentationFormat>
  <Paragraphs>24</Paragraphs>
  <Slides>1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Teması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KalDer Eskişehir</dc:creator>
  <cp:lastModifiedBy>KalDer Eskişehir</cp:lastModifiedBy>
  <cp:revision>1</cp:revision>
  <dcterms:created xsi:type="dcterms:W3CDTF">2025-12-08T13:58:59Z</dcterms:created>
  <dcterms:modified xsi:type="dcterms:W3CDTF">2025-12-08T13:59:54Z</dcterms:modified>
</cp:coreProperties>
</file>